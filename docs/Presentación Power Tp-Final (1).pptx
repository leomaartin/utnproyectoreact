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aleway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  <p:embeddedFont>
      <p:font typeface="Comfortaa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11" Type="http://schemas.openxmlformats.org/officeDocument/2006/relationships/slide" Target="slides/slide6.xml"/><Relationship Id="rId22" Type="http://schemas.openxmlformats.org/officeDocument/2006/relationships/font" Target="fonts/Lato-boldItalic.fntdata"/><Relationship Id="rId10" Type="http://schemas.openxmlformats.org/officeDocument/2006/relationships/slide" Target="slides/slide5.xml"/><Relationship Id="rId21" Type="http://schemas.openxmlformats.org/officeDocument/2006/relationships/font" Target="fonts/Lato-italic.fntdata"/><Relationship Id="rId13" Type="http://schemas.openxmlformats.org/officeDocument/2006/relationships/slide" Target="slides/slide8.xml"/><Relationship Id="rId24" Type="http://schemas.openxmlformats.org/officeDocument/2006/relationships/font" Target="fonts/Comfortaa-bold.fntdata"/><Relationship Id="rId12" Type="http://schemas.openxmlformats.org/officeDocument/2006/relationships/slide" Target="slides/slide7.xml"/><Relationship Id="rId23" Type="http://schemas.openxmlformats.org/officeDocument/2006/relationships/font" Target="fonts/Comfortaa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regular.fntdata"/><Relationship Id="rId14" Type="http://schemas.openxmlformats.org/officeDocument/2006/relationships/slide" Target="slides/slide9.xml"/><Relationship Id="rId17" Type="http://schemas.openxmlformats.org/officeDocument/2006/relationships/font" Target="fonts/Raleway-italic.fntdata"/><Relationship Id="rId16" Type="http://schemas.openxmlformats.org/officeDocument/2006/relationships/font" Target="fonts/Raleway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regular.fntdata"/><Relationship Id="rId6" Type="http://schemas.openxmlformats.org/officeDocument/2006/relationships/slide" Target="slides/slide1.xml"/><Relationship Id="rId18" Type="http://schemas.openxmlformats.org/officeDocument/2006/relationships/font" Target="fonts/Raleway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bb53d4d9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bb53d4d9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bbee7c84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abbee7c84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bbee7c844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abbee7c84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bbee7c844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abbee7c844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bbee7c844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abbee7c844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bbee7c844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abbee7c844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bbee7c844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abbee7c844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bbee7c844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abbee7c844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image" Target="../media/image1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242450" y="1339550"/>
            <a:ext cx="93780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434343"/>
                </a:solidFill>
              </a:rPr>
              <a:t>Presentación</a:t>
            </a:r>
            <a:r>
              <a:rPr lang="es">
                <a:solidFill>
                  <a:srgbClr val="434343"/>
                </a:solidFill>
              </a:rPr>
              <a:t> Tp Final-</a:t>
            </a:r>
            <a:r>
              <a:rPr lang="es">
                <a:solidFill>
                  <a:schemeClr val="lt1"/>
                </a:solidFill>
              </a:rPr>
              <a:t>Turno</a:t>
            </a:r>
            <a:r>
              <a:rPr lang="es">
                <a:solidFill>
                  <a:srgbClr val="4A86E8"/>
                </a:solidFill>
              </a:rPr>
              <a:t>Smart</a:t>
            </a:r>
            <a:endParaRPr>
              <a:solidFill>
                <a:srgbClr val="4A86E8"/>
              </a:solidFill>
            </a:endParaRPr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5" y="3172900"/>
            <a:ext cx="7688100" cy="12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s" sz="6430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Sistema web de gestión de turnos entre proveedores y clientes.</a:t>
            </a:r>
            <a:endParaRPr sz="6430">
              <a:solidFill>
                <a:srgbClr val="434343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s" sz="6430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Alumno: Leonel Martin</a:t>
            </a:r>
            <a:endParaRPr sz="6430">
              <a:solidFill>
                <a:srgbClr val="434343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7800" y="70350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540"/>
              <a:t>Objetivos del sistema</a:t>
            </a:r>
            <a:endParaRPr sz="2540"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928475" y="1646075"/>
            <a:ext cx="9059400" cy="23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•Digitalizar la gestión de turnos entre proveedores y usuarios.</a:t>
            </a:r>
            <a:endParaRPr sz="16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•Podes tener una </a:t>
            </a:r>
            <a:r>
              <a:rPr lang="es" sz="16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fácil</a:t>
            </a:r>
            <a:r>
              <a:rPr lang="es" sz="16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 contacto con el proveedor o usuario.</a:t>
            </a:r>
            <a:endParaRPr sz="16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•Podes hacer las reservas y cancelamientos </a:t>
            </a:r>
            <a:r>
              <a:rPr lang="es" sz="16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más</a:t>
            </a:r>
            <a:r>
              <a:rPr lang="es" sz="16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 </a:t>
            </a:r>
            <a:r>
              <a:rPr lang="es" sz="16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dinámicos.</a:t>
            </a:r>
            <a:endParaRPr sz="16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•Evitar confusiones, mensajes perdidos y dobles reservas.</a:t>
            </a:r>
            <a:endParaRPr sz="16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•</a:t>
            </a:r>
            <a:r>
              <a:rPr lang="es" sz="16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React + Node.js + MySQL. </a:t>
            </a:r>
            <a:endParaRPr sz="1600">
              <a:solidFill>
                <a:schemeClr val="dk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p14" title="Captura-de-Pantalla-2022-04-26-a-las-9.42.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1500" y="3920688"/>
            <a:ext cx="1503000" cy="598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title="45329abe-a8cf-4c45-8536-095f89bb38f1.590b5535ab4478fa04c07d0ce899087a0870de5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42150" y="3784850"/>
            <a:ext cx="1273050" cy="65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title="1_1UBNwRFaslvqt_G3Njw3pg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25925" y="3742125"/>
            <a:ext cx="1273050" cy="955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type="title"/>
          </p:nvPr>
        </p:nvSpPr>
        <p:spPr>
          <a:xfrm>
            <a:off x="727800" y="7718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Vistas del Home:</a:t>
            </a:r>
            <a:endParaRPr/>
          </a:p>
        </p:txBody>
      </p:sp>
      <p:pic>
        <p:nvPicPr>
          <p:cNvPr id="102" name="Google Shape;102;p15" title="Home No Logueado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4725" y="587905"/>
            <a:ext cx="4753776" cy="2274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title="imagen_2025-12-01_04042805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14726" y="2861975"/>
            <a:ext cx="4753776" cy="2281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 title="Home proveedor 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1906650"/>
            <a:ext cx="4314725" cy="2262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>
            <p:ph type="title"/>
          </p:nvPr>
        </p:nvSpPr>
        <p:spPr>
          <a:xfrm>
            <a:off x="703825" y="669300"/>
            <a:ext cx="6413100" cy="11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s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Características Principales</a:t>
            </a:r>
            <a:endParaRPr sz="2500"/>
          </a:p>
        </p:txBody>
      </p:sp>
      <p:sp>
        <p:nvSpPr>
          <p:cNvPr id="110" name="Google Shape;110;p16"/>
          <p:cNvSpPr txBox="1"/>
          <p:nvPr>
            <p:ph idx="1" type="body"/>
          </p:nvPr>
        </p:nvSpPr>
        <p:spPr>
          <a:xfrm>
            <a:off x="729325" y="1959250"/>
            <a:ext cx="63621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 sz="1602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• Gestión centralizada de turnos.</a:t>
            </a:r>
            <a:endParaRPr sz="1602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 sz="1602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• Perfiles para usuarios y proveedores.</a:t>
            </a:r>
            <a:endParaRPr sz="1602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 sz="1602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• Configuración de servicios, días y horarios.</a:t>
            </a:r>
            <a:endParaRPr sz="1602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 sz="1602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• Notificaciones automáticas por email.</a:t>
            </a:r>
            <a:endParaRPr sz="1602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 sz="1602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• Panel de control completo.</a:t>
            </a:r>
            <a:endParaRPr sz="1602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p16" title="optimizar-el-calendario-de-turnos-de-trabajo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8225" y="1865125"/>
            <a:ext cx="3455775" cy="191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>
            <p:ph type="title"/>
          </p:nvPr>
        </p:nvSpPr>
        <p:spPr>
          <a:xfrm>
            <a:off x="727800" y="712025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540"/>
              <a:t>Características</a:t>
            </a:r>
            <a:r>
              <a:rPr lang="es" sz="2540"/>
              <a:t> Usuarios</a:t>
            </a:r>
            <a:endParaRPr sz="2540"/>
          </a:p>
        </p:txBody>
      </p:sp>
      <p:sp>
        <p:nvSpPr>
          <p:cNvPr id="117" name="Google Shape;117;p17"/>
          <p:cNvSpPr txBox="1"/>
          <p:nvPr>
            <p:ph idx="2" type="body"/>
          </p:nvPr>
        </p:nvSpPr>
        <p:spPr>
          <a:xfrm>
            <a:off x="727800" y="1417625"/>
            <a:ext cx="4219200" cy="352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" sz="65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Proveedores</a:t>
            </a:r>
            <a:r>
              <a:rPr b="1" lang="es" sz="65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:</a:t>
            </a:r>
            <a:r>
              <a:rPr b="1" lang="es" sz="65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 </a:t>
            </a:r>
            <a:endParaRPr b="1" sz="65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" sz="65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1</a:t>
            </a:r>
            <a:r>
              <a:rPr b="1" lang="es" sz="65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. </a:t>
            </a:r>
            <a:r>
              <a:rPr b="1" lang="es" sz="65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Perfil Personalizado</a:t>
            </a:r>
            <a:endParaRPr b="1" sz="65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65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2. Gestión de Turnos</a:t>
            </a:r>
            <a:endParaRPr b="1" sz="65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65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3. Administración de Servicios</a:t>
            </a:r>
            <a:endParaRPr b="1" sz="65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65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4. Administración de Pagos</a:t>
            </a:r>
            <a:endParaRPr b="1" sz="65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65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5. Panel de Control</a:t>
            </a:r>
            <a:endParaRPr b="1" sz="65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65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6. Notificaciones</a:t>
            </a:r>
            <a:endParaRPr b="1" sz="65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60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90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7"/>
          <p:cNvSpPr txBox="1"/>
          <p:nvPr/>
        </p:nvSpPr>
        <p:spPr>
          <a:xfrm>
            <a:off x="4870200" y="1298500"/>
            <a:ext cx="54510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s" sz="1600">
                <a:latin typeface="Comfortaa"/>
                <a:ea typeface="Comfortaa"/>
                <a:cs typeface="Comfortaa"/>
                <a:sym typeface="Comfortaa"/>
              </a:rPr>
              <a:t>Clientes:</a:t>
            </a:r>
            <a:endParaRPr b="1" sz="16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s" sz="1600">
                <a:latin typeface="Comfortaa"/>
                <a:ea typeface="Comfortaa"/>
                <a:cs typeface="Comfortaa"/>
                <a:sym typeface="Comfortaa"/>
              </a:rPr>
              <a:t>1. Perfil Básico</a:t>
            </a:r>
            <a:endParaRPr b="1" sz="16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" sz="1600">
                <a:latin typeface="Comfortaa"/>
                <a:ea typeface="Comfortaa"/>
                <a:cs typeface="Comfortaa"/>
                <a:sym typeface="Comfortaa"/>
              </a:rPr>
              <a:t>2. Exploración de Servicios</a:t>
            </a:r>
            <a:endParaRPr b="1" sz="16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" sz="1600">
                <a:latin typeface="Comfortaa"/>
                <a:ea typeface="Comfortaa"/>
                <a:cs typeface="Comfortaa"/>
                <a:sym typeface="Comfortaa"/>
              </a:rPr>
              <a:t>3. Reserva de Turnos</a:t>
            </a:r>
            <a:endParaRPr b="1" sz="16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600">
                <a:latin typeface="Comfortaa"/>
                <a:ea typeface="Comfortaa"/>
                <a:cs typeface="Comfortaa"/>
                <a:sym typeface="Comfortaa"/>
              </a:rPr>
              <a:t>4. Pagos Integrados</a:t>
            </a:r>
            <a:endParaRPr b="1" sz="16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600">
                <a:latin typeface="Comfortaa"/>
                <a:ea typeface="Comfortaa"/>
                <a:cs typeface="Comfortaa"/>
                <a:sym typeface="Comfortaa"/>
              </a:rPr>
              <a:t>5. Gestión de Turnos</a:t>
            </a:r>
            <a:endParaRPr b="1" sz="16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600">
                <a:latin typeface="Comfortaa"/>
                <a:ea typeface="Comfortaa"/>
                <a:cs typeface="Comfortaa"/>
                <a:sym typeface="Comfortaa"/>
              </a:rPr>
              <a:t>6. Notificaciones</a:t>
            </a:r>
            <a:endParaRPr b="1" sz="16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 b="1" sz="2607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 txBox="1"/>
          <p:nvPr>
            <p:ph type="title"/>
          </p:nvPr>
        </p:nvSpPr>
        <p:spPr>
          <a:xfrm>
            <a:off x="727800" y="7205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Vista Proveedores:</a:t>
            </a:r>
            <a:endParaRPr/>
          </a:p>
        </p:txBody>
      </p:sp>
      <p:pic>
        <p:nvPicPr>
          <p:cNvPr id="124" name="Google Shape;124;p18" title="Publicar turnos proveedo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7775" y="678184"/>
            <a:ext cx="4446226" cy="21350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8" title="Administrar trunos proveedo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5325" y="2813200"/>
            <a:ext cx="4858673" cy="2252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8" title="Perfil publico proveedore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2813200"/>
            <a:ext cx="4697774" cy="233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/>
          <p:nvPr>
            <p:ph type="title"/>
          </p:nvPr>
        </p:nvSpPr>
        <p:spPr>
          <a:xfrm>
            <a:off x="727800" y="74620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Vista Usuarios</a:t>
            </a:r>
            <a:endParaRPr/>
          </a:p>
        </p:txBody>
      </p:sp>
      <p:pic>
        <p:nvPicPr>
          <p:cNvPr id="132" name="Google Shape;132;p19" title="Agendar turno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6875"/>
            <a:ext cx="4572000" cy="22176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9" title="Categoria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33950" y="2785753"/>
            <a:ext cx="4910051" cy="2357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/>
          <p:nvPr>
            <p:ph type="title"/>
          </p:nvPr>
        </p:nvSpPr>
        <p:spPr>
          <a:xfrm>
            <a:off x="677125" y="6778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Visión</a:t>
            </a:r>
            <a:r>
              <a:rPr b="0" lang="es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 futuro</a:t>
            </a:r>
            <a:endParaRPr/>
          </a:p>
        </p:txBody>
      </p:sp>
      <p:sp>
        <p:nvSpPr>
          <p:cNvPr id="139" name="Google Shape;139;p20"/>
          <p:cNvSpPr txBox="1"/>
          <p:nvPr>
            <p:ph idx="1" type="body"/>
          </p:nvPr>
        </p:nvSpPr>
        <p:spPr>
          <a:xfrm>
            <a:off x="677125" y="1902600"/>
            <a:ext cx="75840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 sz="1602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• App móvil Android/iOS</a:t>
            </a:r>
            <a:endParaRPr sz="1602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 sz="1602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• Chat interno proveedor-cliente</a:t>
            </a:r>
            <a:endParaRPr sz="1602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 sz="1602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• Sistema de recordatorios push</a:t>
            </a:r>
            <a:endParaRPr sz="1602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 sz="1602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• Integración con calendarios</a:t>
            </a:r>
            <a:endParaRPr sz="1602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 sz="1602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• Expansión por rubros</a:t>
            </a:r>
            <a:endParaRPr sz="1602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0" name="Google Shape;140;p20" title="turnosonlineth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5875" y="1092800"/>
            <a:ext cx="3858124" cy="29578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>
            <p:ph type="title"/>
          </p:nvPr>
        </p:nvSpPr>
        <p:spPr>
          <a:xfrm>
            <a:off x="727800" y="7547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Conclusión</a:t>
            </a:r>
            <a:endParaRPr/>
          </a:p>
        </p:txBody>
      </p:sp>
      <p:sp>
        <p:nvSpPr>
          <p:cNvPr id="146" name="Google Shape;146;p21"/>
          <p:cNvSpPr txBox="1"/>
          <p:nvPr>
            <p:ph idx="1" type="body"/>
          </p:nvPr>
        </p:nvSpPr>
        <p:spPr>
          <a:xfrm>
            <a:off x="729325" y="2078875"/>
            <a:ext cx="66099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•TurnoSmart organiza y digitaliza el proceso de turnos.</a:t>
            </a:r>
            <a:endParaRPr sz="16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•Facilita la comunicación y evita errores.</a:t>
            </a:r>
            <a:endParaRPr sz="16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•Aporta una experiencia profesional para proveedores y clientes.</a:t>
            </a:r>
            <a:endParaRPr sz="16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